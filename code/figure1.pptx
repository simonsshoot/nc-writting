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7137"/>
    <a:srgbClr val="EAEEE3"/>
    <a:srgbClr val="437137"/>
    <a:srgbClr val="85A27B"/>
    <a:srgbClr val="D3D1C7"/>
    <a:srgbClr val="B5B3AD"/>
    <a:srgbClr val="36A883"/>
    <a:srgbClr val="1D9E75"/>
    <a:srgbClr val="1F605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 rot="0">
            <a:off x="1068070" y="939165"/>
            <a:ext cx="2248535" cy="867410"/>
            <a:chOff x="3277" y="2245"/>
            <a:chExt cx="3541" cy="1366"/>
          </a:xfrm>
        </p:grpSpPr>
        <p:sp>
          <p:nvSpPr>
            <p:cNvPr id="4" name="圆角矩形 3"/>
            <p:cNvSpPr/>
            <p:nvPr/>
          </p:nvSpPr>
          <p:spPr>
            <a:xfrm>
              <a:off x="3277" y="2245"/>
              <a:ext cx="3541" cy="1366"/>
            </a:xfrm>
            <a:prstGeom prst="roundRect">
              <a:avLst/>
            </a:prstGeom>
            <a:solidFill>
              <a:srgbClr val="E1F5EE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3649" y="2441"/>
              <a:ext cx="2851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 b="1">
                  <a:solidFill>
                    <a:srgbClr val="437C70"/>
                  </a:solidFill>
                  <a:latin typeface="Times New Roman" panose="02020603050405020304" charset="0"/>
                  <a:cs typeface="Times New Roman" panose="02020603050405020304" charset="0"/>
                </a:rPr>
                <a:t>AnalysisAgent</a:t>
              </a:r>
              <a:endParaRPr lang="en-US" altLang="zh-CN" sz="2000" b="1">
                <a:solidFill>
                  <a:srgbClr val="437C7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3784" y="2931"/>
              <a:ext cx="254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olidFill>
                    <a:srgbClr val="2B7F6A"/>
                  </a:solidFill>
                  <a:latin typeface="Times New Roman" panose="02020603050405020304" charset="0"/>
                  <a:cs typeface="Times New Roman" panose="02020603050405020304" charset="0"/>
                </a:rPr>
                <a:t>Identify risk type</a:t>
              </a:r>
              <a:endParaRPr lang="en-US" altLang="zh-CN" sz="1600">
                <a:solidFill>
                  <a:srgbClr val="2B7F6A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9" name="圆角矩形 8"/>
          <p:cNvSpPr/>
          <p:nvPr/>
        </p:nvSpPr>
        <p:spPr>
          <a:xfrm>
            <a:off x="3949700" y="939165"/>
            <a:ext cx="2248535" cy="867410"/>
          </a:xfrm>
          <a:prstGeom prst="roundRect">
            <a:avLst/>
          </a:prstGeom>
          <a:solidFill>
            <a:srgbClr val="EEEDFE"/>
          </a:solidFill>
          <a:ln>
            <a:solidFill>
              <a:srgbClr val="ADA9D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248785" y="1063625"/>
            <a:ext cx="1651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4C4493"/>
                </a:solidFill>
                <a:latin typeface="Times New Roman" panose="02020603050405020304" charset="0"/>
                <a:cs typeface="Times New Roman" panose="02020603050405020304" charset="0"/>
              </a:rPr>
              <a:t>FusionAgent</a:t>
            </a:r>
            <a:endParaRPr lang="en-US" altLang="zh-CN" sz="2000" b="1">
              <a:solidFill>
                <a:srgbClr val="4C4493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155440" y="1374775"/>
            <a:ext cx="2046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5A51BA"/>
                </a:solidFill>
                <a:latin typeface="Times New Roman" panose="02020603050405020304" charset="0"/>
                <a:cs typeface="Times New Roman" panose="02020603050405020304" charset="0"/>
              </a:rPr>
              <a:t>Reuse &amp; evolve tools</a:t>
            </a:r>
            <a:endParaRPr lang="en-US" altLang="zh-CN" sz="1600">
              <a:solidFill>
                <a:srgbClr val="5A51B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6836410" y="939165"/>
            <a:ext cx="2248535" cy="867410"/>
          </a:xfrm>
          <a:prstGeom prst="roundRect">
            <a:avLst/>
          </a:prstGeom>
          <a:solidFill>
            <a:srgbClr val="FAEEDA"/>
          </a:solidFill>
          <a:ln>
            <a:solidFill>
              <a:srgbClr val="C4A67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7042785" y="1063625"/>
            <a:ext cx="18846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7C562A"/>
                </a:solidFill>
                <a:latin typeface="Times New Roman" panose="02020603050405020304" charset="0"/>
                <a:cs typeface="Times New Roman" panose="02020603050405020304" charset="0"/>
              </a:rPr>
              <a:t>ExecutorAgent</a:t>
            </a:r>
            <a:endParaRPr lang="en-US" altLang="zh-CN" sz="2000" b="1">
              <a:solidFill>
                <a:srgbClr val="7C562A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7018020" y="1374775"/>
            <a:ext cx="19710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996B30"/>
                </a:solidFill>
                <a:latin typeface="Times New Roman" panose="02020603050405020304" charset="0"/>
                <a:cs typeface="Times New Roman" panose="02020603050405020304" charset="0"/>
              </a:rPr>
              <a:t>Sandboxed execution</a:t>
            </a:r>
            <a:endParaRPr lang="en-US" altLang="zh-CN" sz="1600">
              <a:solidFill>
                <a:srgbClr val="996B3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9744075" y="939165"/>
            <a:ext cx="2248535" cy="867410"/>
          </a:xfrm>
          <a:prstGeom prst="roundRect">
            <a:avLst/>
          </a:prstGeom>
          <a:solidFill>
            <a:srgbClr val="FAECE7"/>
          </a:solidFill>
          <a:ln>
            <a:solidFill>
              <a:srgbClr val="C38D7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999345" y="1063625"/>
            <a:ext cx="18103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8B4F3B"/>
                </a:solidFill>
                <a:latin typeface="Times New Roman" panose="02020603050405020304" charset="0"/>
                <a:cs typeface="Times New Roman" panose="02020603050405020304" charset="0"/>
              </a:rPr>
              <a:t>AuditorAgent</a:t>
            </a:r>
            <a:endParaRPr lang="en-US" altLang="zh-CN" sz="2000" b="1">
              <a:solidFill>
                <a:srgbClr val="8B4F3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0110470" y="1374775"/>
            <a:ext cx="161036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A8583E"/>
                </a:solidFill>
                <a:latin typeface="Times New Roman" panose="02020603050405020304" charset="0"/>
                <a:cs typeface="Times New Roman" panose="02020603050405020304" charset="0"/>
              </a:rPr>
              <a:t>Audit &amp; validate</a:t>
            </a:r>
            <a:endParaRPr lang="en-US" altLang="zh-CN" sz="1600">
              <a:solidFill>
                <a:srgbClr val="A8583E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0" name="直接箭头连接符 19"/>
          <p:cNvCxnSpPr>
            <a:stCxn id="4" idx="3"/>
            <a:endCxn id="9" idx="1"/>
          </p:cNvCxnSpPr>
          <p:nvPr/>
        </p:nvCxnSpPr>
        <p:spPr>
          <a:xfrm>
            <a:off x="3316605" y="1372870"/>
            <a:ext cx="633095" cy="0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endCxn id="13" idx="1"/>
          </p:cNvCxnSpPr>
          <p:nvPr/>
        </p:nvCxnSpPr>
        <p:spPr>
          <a:xfrm>
            <a:off x="6198870" y="1372870"/>
            <a:ext cx="637540" cy="0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endCxn id="17" idx="1"/>
          </p:cNvCxnSpPr>
          <p:nvPr/>
        </p:nvCxnSpPr>
        <p:spPr>
          <a:xfrm flipV="1">
            <a:off x="9094470" y="1372870"/>
            <a:ext cx="649605" cy="1905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曲线连接符 22"/>
          <p:cNvCxnSpPr>
            <a:stCxn id="17" idx="2"/>
          </p:cNvCxnSpPr>
          <p:nvPr/>
        </p:nvCxnSpPr>
        <p:spPr>
          <a:xfrm rot="5400000">
            <a:off x="8472170" y="-95885"/>
            <a:ext cx="494665" cy="4298315"/>
          </a:xfrm>
          <a:prstGeom prst="curvedConnector2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曲线连接符 25"/>
          <p:cNvCxnSpPr/>
          <p:nvPr/>
        </p:nvCxnSpPr>
        <p:spPr>
          <a:xfrm rot="5400000" flipV="1">
            <a:off x="4135120" y="-136525"/>
            <a:ext cx="493395" cy="4378325"/>
          </a:xfrm>
          <a:prstGeom prst="curvedConnector2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5541010" y="1891665"/>
            <a:ext cx="1854200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500">
                <a:solidFill>
                  <a:srgbClr val="B2B1AF"/>
                </a:solidFill>
                <a:latin typeface="Times New Roman" panose="02020603050405020304" charset="0"/>
                <a:cs typeface="Times New Roman" panose="02020603050405020304" charset="0"/>
              </a:rPr>
              <a:t>lifelong learning loop</a:t>
            </a:r>
            <a:endParaRPr lang="en-US" altLang="zh-CN" sz="1500">
              <a:solidFill>
                <a:srgbClr val="B2B1A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50" name="组合 49"/>
          <p:cNvGrpSpPr/>
          <p:nvPr/>
        </p:nvGrpSpPr>
        <p:grpSpPr>
          <a:xfrm rot="0">
            <a:off x="1390650" y="3034030"/>
            <a:ext cx="4918075" cy="1630045"/>
            <a:chOff x="616" y="4857"/>
            <a:chExt cx="7745" cy="2567"/>
          </a:xfrm>
        </p:grpSpPr>
        <p:cxnSp>
          <p:nvCxnSpPr>
            <p:cNvPr id="28" name="直接连接符 27"/>
            <p:cNvCxnSpPr/>
            <p:nvPr/>
          </p:nvCxnSpPr>
          <p:spPr>
            <a:xfrm flipV="1">
              <a:off x="2557" y="6966"/>
              <a:ext cx="5232" cy="12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9" name="文本框 28"/>
            <p:cNvSpPr txBox="1"/>
            <p:nvPr/>
          </p:nvSpPr>
          <p:spPr>
            <a:xfrm>
              <a:off x="2341" y="6990"/>
              <a:ext cx="68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>
                  <a:solidFill>
                    <a:schemeClr val="bg2">
                      <a:lumMod val="50000"/>
                    </a:schemeClr>
                  </a:solidFill>
                </a:rPr>
                <a:t>0.0</a:t>
              </a:r>
              <a:endParaRPr lang="en-US" altLang="zh-CN" sz="12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4701" y="6990"/>
              <a:ext cx="68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>
                  <a:solidFill>
                    <a:schemeClr val="bg2">
                      <a:lumMod val="50000"/>
                    </a:schemeClr>
                  </a:solidFill>
                </a:rPr>
                <a:t>0.5</a:t>
              </a:r>
              <a:endParaRPr lang="en-US" altLang="zh-CN" sz="12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277" y="6990"/>
              <a:ext cx="68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>
                  <a:solidFill>
                    <a:schemeClr val="bg2">
                      <a:lumMod val="50000"/>
                    </a:schemeClr>
                  </a:solidFill>
                </a:rPr>
                <a:t>1.0</a:t>
              </a:r>
              <a:endParaRPr lang="en-US" altLang="zh-CN" sz="12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32" name="圆角矩形 31"/>
            <p:cNvSpPr/>
            <p:nvPr/>
          </p:nvSpPr>
          <p:spPr>
            <a:xfrm>
              <a:off x="2557" y="6606"/>
              <a:ext cx="4720" cy="288"/>
            </a:xfrm>
            <a:prstGeom prst="roundRect">
              <a:avLst/>
            </a:prstGeom>
            <a:solidFill>
              <a:srgbClr val="1D9E7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圆角矩形 32"/>
            <p:cNvSpPr/>
            <p:nvPr/>
          </p:nvSpPr>
          <p:spPr>
            <a:xfrm>
              <a:off x="2557" y="6222"/>
              <a:ext cx="3107" cy="288"/>
            </a:xfrm>
            <a:prstGeom prst="roundRect">
              <a:avLst/>
            </a:prstGeom>
            <a:solidFill>
              <a:srgbClr val="D3D1C7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圆角矩形 33"/>
            <p:cNvSpPr/>
            <p:nvPr/>
          </p:nvSpPr>
          <p:spPr>
            <a:xfrm>
              <a:off x="2557" y="5838"/>
              <a:ext cx="4134" cy="288"/>
            </a:xfrm>
            <a:prstGeom prst="roundRect">
              <a:avLst/>
            </a:prstGeom>
            <a:solidFill>
              <a:srgbClr val="D3D1C7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圆角矩形 34"/>
            <p:cNvSpPr/>
            <p:nvPr/>
          </p:nvSpPr>
          <p:spPr>
            <a:xfrm>
              <a:off x="2553" y="5400"/>
              <a:ext cx="3667" cy="288"/>
            </a:xfrm>
            <a:prstGeom prst="roundRect">
              <a:avLst/>
            </a:prstGeom>
            <a:solidFill>
              <a:srgbClr val="D3D1C7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6" name="圆角矩形 35"/>
            <p:cNvSpPr/>
            <p:nvPr/>
          </p:nvSpPr>
          <p:spPr>
            <a:xfrm>
              <a:off x="2557" y="4962"/>
              <a:ext cx="3352" cy="288"/>
            </a:xfrm>
            <a:prstGeom prst="roundRect">
              <a:avLst/>
            </a:prstGeom>
            <a:solidFill>
              <a:srgbClr val="D3D1C7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024" y="6498"/>
              <a:ext cx="17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rgbClr val="3AAA85"/>
                  </a:solidFill>
                  <a:latin typeface="Times New Roman" panose="02020603050405020304" charset="0"/>
                  <a:cs typeface="Times New Roman" panose="02020603050405020304" charset="0"/>
                </a:rPr>
                <a:t>DEFEND</a:t>
              </a:r>
              <a:endParaRPr lang="en-US" altLang="zh-CN" sz="1600" b="1">
                <a:solidFill>
                  <a:srgbClr val="3AAA85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371" y="4857"/>
              <a:ext cx="135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AGrail</a:t>
              </a:r>
              <a:endPara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136" y="5280"/>
              <a:ext cx="151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CoTSafe</a:t>
              </a:r>
              <a:endPara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64" y="5691"/>
              <a:ext cx="2009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ShieldAgent</a:t>
              </a:r>
              <a:endPara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6" y="6075"/>
              <a:ext cx="208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GuardAgent</a:t>
              </a:r>
              <a:endPara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193" y="6510"/>
              <a:ext cx="11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b="1">
                  <a:solidFill>
                    <a:srgbClr val="3A7367"/>
                  </a:solidFill>
                </a:rPr>
                <a:t>0.924</a:t>
              </a:r>
              <a:endParaRPr lang="en-US" altLang="zh-CN" sz="1400" b="1">
                <a:solidFill>
                  <a:srgbClr val="3A7367"/>
                </a:solidFill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557" y="6129"/>
              <a:ext cx="11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</a:rPr>
                <a:t>0.604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6606" y="5739"/>
              <a:ext cx="11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</a:rPr>
                <a:t>0.832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6127" y="5308"/>
              <a:ext cx="11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</a:rPr>
                <a:t>0.770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5813" y="4866"/>
              <a:ext cx="11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</a:rPr>
                <a:t>0.707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  <p:grpSp>
        <p:nvGrpSpPr>
          <p:cNvPr id="108" name="组合 107"/>
          <p:cNvGrpSpPr/>
          <p:nvPr/>
        </p:nvGrpSpPr>
        <p:grpSpPr>
          <a:xfrm rot="0">
            <a:off x="6514465" y="2938145"/>
            <a:ext cx="4556760" cy="1737995"/>
            <a:chOff x="10535" y="4710"/>
            <a:chExt cx="7176" cy="2737"/>
          </a:xfrm>
        </p:grpSpPr>
        <p:cxnSp>
          <p:nvCxnSpPr>
            <p:cNvPr id="51" name="直接连接符 50"/>
            <p:cNvCxnSpPr/>
            <p:nvPr/>
          </p:nvCxnSpPr>
          <p:spPr>
            <a:xfrm>
              <a:off x="11041" y="4710"/>
              <a:ext cx="0" cy="2292"/>
            </a:xfrm>
            <a:prstGeom prst="line">
              <a:avLst/>
            </a:prstGeom>
            <a:ln>
              <a:solidFill>
                <a:srgbClr val="D3D1C7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 flipV="1">
              <a:off x="11044" y="6968"/>
              <a:ext cx="5270" cy="28"/>
            </a:xfrm>
            <a:prstGeom prst="line">
              <a:avLst/>
            </a:prstGeom>
            <a:ln>
              <a:solidFill>
                <a:srgbClr val="D3D1C7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8" name="文本框 57"/>
            <p:cNvSpPr txBox="1"/>
            <p:nvPr/>
          </p:nvSpPr>
          <p:spPr>
            <a:xfrm>
              <a:off x="11099" y="6941"/>
              <a:ext cx="856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App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11932" y="6941"/>
              <a:ext cx="856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Prog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2828" y="6941"/>
              <a:ext cx="856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IoT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13604" y="6933"/>
              <a:ext cx="85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Fin</a:t>
              </a:r>
              <a:endParaRPr lang="en-US" altLang="zh-CN" sz="15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4298" y="6941"/>
              <a:ext cx="85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5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Web</a:t>
              </a:r>
              <a:endParaRPr lang="en-US" altLang="zh-CN" sz="15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grpSp>
          <p:nvGrpSpPr>
            <p:cNvPr id="67" name="组合 66"/>
            <p:cNvGrpSpPr/>
            <p:nvPr/>
          </p:nvGrpSpPr>
          <p:grpSpPr>
            <a:xfrm rot="0">
              <a:off x="11310" y="4778"/>
              <a:ext cx="3574" cy="530"/>
              <a:chOff x="11310" y="4778"/>
              <a:chExt cx="3574" cy="530"/>
            </a:xfrm>
          </p:grpSpPr>
          <p:sp>
            <p:nvSpPr>
              <p:cNvPr id="53" name="椭圆 52"/>
              <p:cNvSpPr/>
              <p:nvPr/>
            </p:nvSpPr>
            <p:spPr>
              <a:xfrm>
                <a:off x="11310" y="4962"/>
                <a:ext cx="280" cy="280"/>
              </a:xfrm>
              <a:prstGeom prst="ellipse">
                <a:avLst/>
              </a:prstGeom>
              <a:solidFill>
                <a:srgbClr val="1D9E75"/>
              </a:solidFill>
              <a:ln>
                <a:solidFill>
                  <a:srgbClr val="1F6052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4" name="椭圆 53"/>
              <p:cNvSpPr/>
              <p:nvPr/>
            </p:nvSpPr>
            <p:spPr>
              <a:xfrm>
                <a:off x="12100" y="4778"/>
                <a:ext cx="280" cy="280"/>
              </a:xfrm>
              <a:prstGeom prst="ellipse">
                <a:avLst/>
              </a:prstGeom>
              <a:solidFill>
                <a:srgbClr val="1D9E75"/>
              </a:solidFill>
              <a:ln>
                <a:solidFill>
                  <a:srgbClr val="1F6052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5" name="椭圆 54"/>
              <p:cNvSpPr/>
              <p:nvPr/>
            </p:nvSpPr>
            <p:spPr>
              <a:xfrm>
                <a:off x="12964" y="5028"/>
                <a:ext cx="280" cy="280"/>
              </a:xfrm>
              <a:prstGeom prst="ellipse">
                <a:avLst/>
              </a:prstGeom>
              <a:solidFill>
                <a:srgbClr val="1D9E75"/>
              </a:solidFill>
              <a:ln>
                <a:solidFill>
                  <a:srgbClr val="1F6052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6" name="椭圆 55"/>
              <p:cNvSpPr/>
              <p:nvPr/>
            </p:nvSpPr>
            <p:spPr>
              <a:xfrm>
                <a:off x="13779" y="4866"/>
                <a:ext cx="280" cy="280"/>
              </a:xfrm>
              <a:prstGeom prst="ellipse">
                <a:avLst/>
              </a:prstGeom>
              <a:solidFill>
                <a:srgbClr val="1D9E75"/>
              </a:solidFill>
              <a:ln>
                <a:solidFill>
                  <a:srgbClr val="1F6052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7" name="椭圆 56"/>
              <p:cNvSpPr/>
              <p:nvPr/>
            </p:nvSpPr>
            <p:spPr>
              <a:xfrm>
                <a:off x="14604" y="4778"/>
                <a:ext cx="280" cy="280"/>
              </a:xfrm>
              <a:prstGeom prst="ellipse">
                <a:avLst/>
              </a:prstGeom>
              <a:solidFill>
                <a:srgbClr val="1D9E75"/>
              </a:solidFill>
              <a:ln>
                <a:solidFill>
                  <a:srgbClr val="1F6052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cxnSp>
            <p:nvCxnSpPr>
              <p:cNvPr id="63" name="直接连接符 62"/>
              <p:cNvCxnSpPr>
                <a:stCxn id="53" idx="6"/>
                <a:endCxn id="54" idx="2"/>
              </p:cNvCxnSpPr>
              <p:nvPr/>
            </p:nvCxnSpPr>
            <p:spPr>
              <a:xfrm flipV="1">
                <a:off x="11590" y="4918"/>
                <a:ext cx="510" cy="184"/>
              </a:xfrm>
              <a:prstGeom prst="line">
                <a:avLst/>
              </a:prstGeom>
              <a:ln w="22225">
                <a:solidFill>
                  <a:srgbClr val="36A883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4" name="直接连接符 63"/>
              <p:cNvCxnSpPr>
                <a:stCxn id="55" idx="2"/>
                <a:endCxn id="54" idx="6"/>
              </p:cNvCxnSpPr>
              <p:nvPr/>
            </p:nvCxnSpPr>
            <p:spPr>
              <a:xfrm flipH="1" flipV="1">
                <a:off x="12380" y="4918"/>
                <a:ext cx="584" cy="250"/>
              </a:xfrm>
              <a:prstGeom prst="line">
                <a:avLst/>
              </a:prstGeom>
              <a:ln w="22225">
                <a:solidFill>
                  <a:srgbClr val="36A883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5" name="直接连接符 64"/>
              <p:cNvCxnSpPr>
                <a:stCxn id="55" idx="6"/>
                <a:endCxn id="56" idx="2"/>
              </p:cNvCxnSpPr>
              <p:nvPr/>
            </p:nvCxnSpPr>
            <p:spPr>
              <a:xfrm flipV="1">
                <a:off x="13244" y="5006"/>
                <a:ext cx="535" cy="162"/>
              </a:xfrm>
              <a:prstGeom prst="line">
                <a:avLst/>
              </a:prstGeom>
              <a:ln w="22225">
                <a:solidFill>
                  <a:srgbClr val="36A883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/>
              <p:cNvCxnSpPr>
                <a:stCxn id="56" idx="6"/>
                <a:endCxn id="57" idx="2"/>
              </p:cNvCxnSpPr>
              <p:nvPr/>
            </p:nvCxnSpPr>
            <p:spPr>
              <a:xfrm flipV="1">
                <a:off x="14059" y="4918"/>
                <a:ext cx="545" cy="88"/>
              </a:xfrm>
              <a:prstGeom prst="line">
                <a:avLst/>
              </a:prstGeom>
              <a:ln w="22225">
                <a:solidFill>
                  <a:srgbClr val="36A883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grpSp>
          <p:nvGrpSpPr>
            <p:cNvPr id="79" name="组合 78"/>
            <p:cNvGrpSpPr/>
            <p:nvPr/>
          </p:nvGrpSpPr>
          <p:grpSpPr>
            <a:xfrm rot="0">
              <a:off x="11310" y="5368"/>
              <a:ext cx="3574" cy="1410"/>
              <a:chOff x="11310" y="5368"/>
              <a:chExt cx="3574" cy="1410"/>
            </a:xfrm>
          </p:grpSpPr>
          <p:sp>
            <p:nvSpPr>
              <p:cNvPr id="70" name="椭圆 69"/>
              <p:cNvSpPr/>
              <p:nvPr/>
            </p:nvSpPr>
            <p:spPr>
              <a:xfrm>
                <a:off x="11310" y="5608"/>
                <a:ext cx="280" cy="280"/>
              </a:xfrm>
              <a:prstGeom prst="ellipse">
                <a:avLst/>
              </a:prstGeom>
              <a:solidFill>
                <a:srgbClr val="D3D1C7"/>
              </a:solidFill>
              <a:ln>
                <a:solidFill>
                  <a:srgbClr val="B5B3AD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12100" y="5368"/>
                <a:ext cx="280" cy="280"/>
              </a:xfrm>
              <a:prstGeom prst="ellipse">
                <a:avLst/>
              </a:prstGeom>
              <a:solidFill>
                <a:srgbClr val="D3D1C7"/>
              </a:solidFill>
              <a:ln>
                <a:solidFill>
                  <a:srgbClr val="B5B3AD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2" name="椭圆 71"/>
              <p:cNvSpPr/>
              <p:nvPr/>
            </p:nvSpPr>
            <p:spPr>
              <a:xfrm>
                <a:off x="12964" y="6434"/>
                <a:ext cx="280" cy="280"/>
              </a:xfrm>
              <a:prstGeom prst="ellipse">
                <a:avLst/>
              </a:prstGeom>
              <a:solidFill>
                <a:srgbClr val="D3D1C7"/>
              </a:solidFill>
              <a:ln>
                <a:solidFill>
                  <a:srgbClr val="B5B3AD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椭圆 72"/>
              <p:cNvSpPr/>
              <p:nvPr/>
            </p:nvSpPr>
            <p:spPr>
              <a:xfrm>
                <a:off x="13779" y="6498"/>
                <a:ext cx="280" cy="280"/>
              </a:xfrm>
              <a:prstGeom prst="ellipse">
                <a:avLst/>
              </a:prstGeom>
              <a:solidFill>
                <a:srgbClr val="D3D1C7"/>
              </a:solidFill>
              <a:ln>
                <a:solidFill>
                  <a:srgbClr val="B5B3AD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4" name="椭圆 73"/>
              <p:cNvSpPr/>
              <p:nvPr/>
            </p:nvSpPr>
            <p:spPr>
              <a:xfrm>
                <a:off x="14604" y="5691"/>
                <a:ext cx="280" cy="280"/>
              </a:xfrm>
              <a:prstGeom prst="ellipse">
                <a:avLst/>
              </a:prstGeom>
              <a:solidFill>
                <a:srgbClr val="D3D1C7"/>
              </a:solidFill>
              <a:ln>
                <a:solidFill>
                  <a:srgbClr val="B5B3AD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cxnSp>
            <p:nvCxnSpPr>
              <p:cNvPr id="75" name="直接连接符 74"/>
              <p:cNvCxnSpPr>
                <a:stCxn id="70" idx="6"/>
                <a:endCxn id="71" idx="2"/>
              </p:cNvCxnSpPr>
              <p:nvPr/>
            </p:nvCxnSpPr>
            <p:spPr>
              <a:xfrm flipV="1">
                <a:off x="11590" y="5508"/>
                <a:ext cx="510" cy="240"/>
              </a:xfrm>
              <a:prstGeom prst="line">
                <a:avLst/>
              </a:prstGeom>
              <a:ln w="19050" cmpd="sng">
                <a:solidFill>
                  <a:schemeClr val="bg2">
                    <a:lumMod val="9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/>
              <p:cNvCxnSpPr>
                <a:stCxn id="72" idx="2"/>
                <a:endCxn id="71" idx="6"/>
              </p:cNvCxnSpPr>
              <p:nvPr/>
            </p:nvCxnSpPr>
            <p:spPr>
              <a:xfrm flipH="1" flipV="1">
                <a:off x="12380" y="5508"/>
                <a:ext cx="584" cy="1066"/>
              </a:xfrm>
              <a:prstGeom prst="line">
                <a:avLst/>
              </a:prstGeom>
              <a:ln w="19050" cmpd="sng">
                <a:solidFill>
                  <a:schemeClr val="bg2">
                    <a:lumMod val="9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/>
              <p:cNvCxnSpPr>
                <a:stCxn id="72" idx="6"/>
                <a:endCxn id="73" idx="2"/>
              </p:cNvCxnSpPr>
              <p:nvPr/>
            </p:nvCxnSpPr>
            <p:spPr>
              <a:xfrm>
                <a:off x="13244" y="6574"/>
                <a:ext cx="535" cy="64"/>
              </a:xfrm>
              <a:prstGeom prst="line">
                <a:avLst/>
              </a:prstGeom>
              <a:ln w="19050" cmpd="sng">
                <a:solidFill>
                  <a:schemeClr val="bg2">
                    <a:lumMod val="9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/>
              <p:cNvCxnSpPr>
                <a:stCxn id="73" idx="6"/>
                <a:endCxn id="74" idx="2"/>
              </p:cNvCxnSpPr>
              <p:nvPr/>
            </p:nvCxnSpPr>
            <p:spPr>
              <a:xfrm flipV="1">
                <a:off x="14059" y="5831"/>
                <a:ext cx="545" cy="807"/>
              </a:xfrm>
              <a:prstGeom prst="line">
                <a:avLst/>
              </a:prstGeom>
              <a:ln w="19050" cmpd="sng">
                <a:solidFill>
                  <a:schemeClr val="bg2">
                    <a:lumMod val="9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91" name="椭圆 90"/>
            <p:cNvSpPr/>
            <p:nvPr/>
          </p:nvSpPr>
          <p:spPr>
            <a:xfrm>
              <a:off x="11310" y="6126"/>
              <a:ext cx="280" cy="28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2" name="椭圆 91"/>
            <p:cNvSpPr/>
            <p:nvPr/>
          </p:nvSpPr>
          <p:spPr>
            <a:xfrm>
              <a:off x="12100" y="6434"/>
              <a:ext cx="280" cy="28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3" name="椭圆 92"/>
            <p:cNvSpPr/>
            <p:nvPr/>
          </p:nvSpPr>
          <p:spPr>
            <a:xfrm>
              <a:off x="12964" y="5748"/>
              <a:ext cx="280" cy="28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4" name="椭圆 93"/>
            <p:cNvSpPr/>
            <p:nvPr/>
          </p:nvSpPr>
          <p:spPr>
            <a:xfrm>
              <a:off x="13779" y="6154"/>
              <a:ext cx="280" cy="28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5" name="椭圆 94"/>
            <p:cNvSpPr/>
            <p:nvPr/>
          </p:nvSpPr>
          <p:spPr>
            <a:xfrm>
              <a:off x="14604" y="6214"/>
              <a:ext cx="280" cy="28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96" name="直接连接符 95"/>
            <p:cNvCxnSpPr>
              <a:stCxn id="91" idx="6"/>
              <a:endCxn id="92" idx="2"/>
            </p:cNvCxnSpPr>
            <p:nvPr/>
          </p:nvCxnSpPr>
          <p:spPr>
            <a:xfrm>
              <a:off x="11590" y="6266"/>
              <a:ext cx="510" cy="308"/>
            </a:xfrm>
            <a:prstGeom prst="line">
              <a:avLst/>
            </a:prstGeom>
            <a:ln w="19050" cmpd="sng"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7" name="直接连接符 96"/>
            <p:cNvCxnSpPr>
              <a:stCxn id="93" idx="2"/>
              <a:endCxn id="92" idx="6"/>
            </p:cNvCxnSpPr>
            <p:nvPr/>
          </p:nvCxnSpPr>
          <p:spPr>
            <a:xfrm flipH="1">
              <a:off x="12380" y="5888"/>
              <a:ext cx="584" cy="686"/>
            </a:xfrm>
            <a:prstGeom prst="line">
              <a:avLst/>
            </a:prstGeom>
            <a:ln w="19050" cmpd="sng"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8" name="直接连接符 97"/>
            <p:cNvCxnSpPr>
              <a:stCxn id="93" idx="6"/>
              <a:endCxn id="94" idx="2"/>
            </p:cNvCxnSpPr>
            <p:nvPr/>
          </p:nvCxnSpPr>
          <p:spPr>
            <a:xfrm>
              <a:off x="13244" y="5888"/>
              <a:ext cx="535" cy="406"/>
            </a:xfrm>
            <a:prstGeom prst="line">
              <a:avLst/>
            </a:prstGeom>
            <a:ln w="19050" cmpd="sng"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9" name="直接连接符 98"/>
            <p:cNvCxnSpPr>
              <a:stCxn id="94" idx="6"/>
              <a:endCxn id="95" idx="2"/>
            </p:cNvCxnSpPr>
            <p:nvPr/>
          </p:nvCxnSpPr>
          <p:spPr>
            <a:xfrm>
              <a:off x="14059" y="6294"/>
              <a:ext cx="545" cy="60"/>
            </a:xfrm>
            <a:prstGeom prst="line">
              <a:avLst/>
            </a:prstGeom>
            <a:ln w="19050" cmpd="sng"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1" name="椭圆 100"/>
            <p:cNvSpPr/>
            <p:nvPr/>
          </p:nvSpPr>
          <p:spPr>
            <a:xfrm>
              <a:off x="15345" y="5280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5625" y="5157"/>
              <a:ext cx="17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rgbClr val="3AAA85"/>
                  </a:solidFill>
                  <a:latin typeface="Times New Roman" panose="02020603050405020304" charset="0"/>
                  <a:cs typeface="Times New Roman" panose="02020603050405020304" charset="0"/>
                </a:rPr>
                <a:t>DEFEND</a:t>
              </a:r>
              <a:endParaRPr lang="en-US" altLang="zh-CN" sz="1600" b="1">
                <a:solidFill>
                  <a:srgbClr val="3AAA85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4" name="椭圆 103"/>
            <p:cNvSpPr/>
            <p:nvPr/>
          </p:nvSpPr>
          <p:spPr>
            <a:xfrm>
              <a:off x="15345" y="5748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5" name="文本框 104"/>
            <p:cNvSpPr txBox="1"/>
            <p:nvPr/>
          </p:nvSpPr>
          <p:spPr>
            <a:xfrm>
              <a:off x="15625" y="5594"/>
              <a:ext cx="208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b="1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Baselines</a:t>
              </a:r>
              <a:endPara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10535" y="5592"/>
              <a:ext cx="67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solidFill>
                    <a:schemeClr val="bg2">
                      <a:lumMod val="50000"/>
                    </a:schemeClr>
                  </a:solidFill>
                  <a:latin typeface="Times New Roman" panose="02020603050405020304" charset="0"/>
                  <a:cs typeface="Times New Roman" panose="02020603050405020304" charset="0"/>
                </a:rPr>
                <a:t>F1</a:t>
              </a:r>
              <a:endPara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115" name="组合 114"/>
          <p:cNvGrpSpPr/>
          <p:nvPr/>
        </p:nvGrpSpPr>
        <p:grpSpPr>
          <a:xfrm rot="0">
            <a:off x="2462530" y="2278380"/>
            <a:ext cx="2997835" cy="522605"/>
            <a:chOff x="3411" y="3780"/>
            <a:chExt cx="4721" cy="823"/>
          </a:xfrm>
        </p:grpSpPr>
        <p:sp>
          <p:nvSpPr>
            <p:cNvPr id="111" name="圆角矩形 110"/>
            <p:cNvSpPr/>
            <p:nvPr/>
          </p:nvSpPr>
          <p:spPr>
            <a:xfrm>
              <a:off x="3476" y="4035"/>
              <a:ext cx="4572" cy="568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437137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9" name="文本框 108"/>
            <p:cNvSpPr txBox="1"/>
            <p:nvPr/>
          </p:nvSpPr>
          <p:spPr>
            <a:xfrm>
              <a:off x="3807" y="4023"/>
              <a:ext cx="432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olidFill>
                    <a:srgbClr val="437137"/>
                  </a:solidFill>
                  <a:latin typeface="Times New Roman" panose="02020603050405020304" charset="0"/>
                  <a:cs typeface="Times New Roman" panose="02020603050405020304" charset="0"/>
                </a:rPr>
                <a:t>SOTA defense performance</a:t>
              </a:r>
              <a:endParaRPr lang="en-US" altLang="zh-CN">
                <a:solidFill>
                  <a:srgbClr val="437137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pic>
          <p:nvPicPr>
            <p:cNvPr id="114" name="图片 113" descr="正确"/>
            <p:cNvPicPr>
              <a:picLocks noChangeAspect="1"/>
            </p:cNvPicPr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11" y="3780"/>
              <a:ext cx="425" cy="425"/>
            </a:xfrm>
            <a:prstGeom prst="rect">
              <a:avLst/>
            </a:prstGeom>
          </p:spPr>
        </p:pic>
      </p:grpSp>
      <p:grpSp>
        <p:nvGrpSpPr>
          <p:cNvPr id="117" name="组合 116"/>
          <p:cNvGrpSpPr/>
          <p:nvPr/>
        </p:nvGrpSpPr>
        <p:grpSpPr>
          <a:xfrm rot="0">
            <a:off x="6899275" y="2259330"/>
            <a:ext cx="2994025" cy="534035"/>
            <a:chOff x="10701" y="3780"/>
            <a:chExt cx="4715" cy="841"/>
          </a:xfrm>
        </p:grpSpPr>
        <p:sp>
          <p:nvSpPr>
            <p:cNvPr id="113" name="圆角矩形 112"/>
            <p:cNvSpPr/>
            <p:nvPr/>
          </p:nvSpPr>
          <p:spPr>
            <a:xfrm>
              <a:off x="10701" y="4035"/>
              <a:ext cx="4644" cy="568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437137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10934" y="4041"/>
              <a:ext cx="397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olidFill>
                    <a:srgbClr val="437137"/>
                  </a:solidFill>
                  <a:latin typeface="Times New Roman" panose="02020603050405020304" charset="0"/>
                  <a:cs typeface="Times New Roman" panose="02020603050405020304" charset="0"/>
                </a:rPr>
                <a:t>Cross-domain generation</a:t>
              </a:r>
              <a:endParaRPr lang="en-US" altLang="zh-CN">
                <a:solidFill>
                  <a:srgbClr val="437137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pic>
          <p:nvPicPr>
            <p:cNvPr id="116" name="图片 115" descr="正确"/>
            <p:cNvPicPr>
              <a:picLocks noChangeAspect="1"/>
            </p:cNvPicPr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991" y="3780"/>
              <a:ext cx="425" cy="425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51" name="直接连接符 50"/>
          <p:cNvCxnSpPr/>
          <p:nvPr/>
        </p:nvCxnSpPr>
        <p:spPr>
          <a:xfrm>
            <a:off x="3368675" y="1565275"/>
            <a:ext cx="0" cy="1455420"/>
          </a:xfrm>
          <a:prstGeom prst="line">
            <a:avLst/>
          </a:prstGeom>
          <a:ln>
            <a:solidFill>
              <a:srgbClr val="D3D1C7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连接符 51"/>
          <p:cNvCxnSpPr/>
          <p:nvPr/>
        </p:nvCxnSpPr>
        <p:spPr>
          <a:xfrm flipV="1">
            <a:off x="3370580" y="2999105"/>
            <a:ext cx="3346450" cy="17780"/>
          </a:xfrm>
          <a:prstGeom prst="line">
            <a:avLst/>
          </a:prstGeom>
          <a:ln>
            <a:solidFill>
              <a:srgbClr val="D3D1C7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3405505" y="2981960"/>
            <a:ext cx="5435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App</a:t>
            </a:r>
            <a:endParaRPr lang="en-US" altLang="zh-CN" sz="14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934460" y="2981960"/>
            <a:ext cx="5435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Prog</a:t>
            </a:r>
            <a:endParaRPr lang="en-US" altLang="zh-CN" sz="14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4503420" y="2981960"/>
            <a:ext cx="5435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IoT</a:t>
            </a:r>
            <a:endParaRPr lang="en-US" altLang="zh-CN" sz="14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996180" y="2976880"/>
            <a:ext cx="543560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5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Fin</a:t>
            </a:r>
            <a:endParaRPr lang="en-US" altLang="zh-CN" sz="15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436870" y="2981960"/>
            <a:ext cx="543560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5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Web</a:t>
            </a:r>
            <a:endParaRPr lang="en-US" altLang="zh-CN" sz="15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7" name="组合 66"/>
          <p:cNvGrpSpPr/>
          <p:nvPr/>
        </p:nvGrpSpPr>
        <p:grpSpPr>
          <a:xfrm rot="0">
            <a:off x="3539490" y="1608455"/>
            <a:ext cx="2269490" cy="336550"/>
            <a:chOff x="11310" y="4778"/>
            <a:chExt cx="3574" cy="530"/>
          </a:xfrm>
        </p:grpSpPr>
        <p:sp>
          <p:nvSpPr>
            <p:cNvPr id="53" name="椭圆 52"/>
            <p:cNvSpPr/>
            <p:nvPr/>
          </p:nvSpPr>
          <p:spPr>
            <a:xfrm>
              <a:off x="11310" y="4962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4" name="椭圆 53"/>
            <p:cNvSpPr/>
            <p:nvPr/>
          </p:nvSpPr>
          <p:spPr>
            <a:xfrm>
              <a:off x="12100" y="4778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椭圆 54"/>
            <p:cNvSpPr/>
            <p:nvPr/>
          </p:nvSpPr>
          <p:spPr>
            <a:xfrm>
              <a:off x="12964" y="5028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13779" y="4866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14604" y="4778"/>
              <a:ext cx="280" cy="280"/>
            </a:xfrm>
            <a:prstGeom prst="ellipse">
              <a:avLst/>
            </a:prstGeom>
            <a:solidFill>
              <a:srgbClr val="1D9E75"/>
            </a:solidFill>
            <a:ln>
              <a:solidFill>
                <a:srgbClr val="1F605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63" name="直接连接符 62"/>
            <p:cNvCxnSpPr>
              <a:stCxn id="53" idx="6"/>
              <a:endCxn id="54" idx="2"/>
            </p:cNvCxnSpPr>
            <p:nvPr/>
          </p:nvCxnSpPr>
          <p:spPr>
            <a:xfrm flipV="1">
              <a:off x="11590" y="4918"/>
              <a:ext cx="510" cy="184"/>
            </a:xfrm>
            <a:prstGeom prst="line">
              <a:avLst/>
            </a:prstGeom>
            <a:ln w="22225">
              <a:solidFill>
                <a:srgbClr val="36A883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4" name="直接连接符 63"/>
            <p:cNvCxnSpPr>
              <a:stCxn id="55" idx="2"/>
              <a:endCxn id="54" idx="6"/>
            </p:cNvCxnSpPr>
            <p:nvPr/>
          </p:nvCxnSpPr>
          <p:spPr>
            <a:xfrm flipH="1" flipV="1">
              <a:off x="12380" y="4918"/>
              <a:ext cx="584" cy="250"/>
            </a:xfrm>
            <a:prstGeom prst="line">
              <a:avLst/>
            </a:prstGeom>
            <a:ln w="22225">
              <a:solidFill>
                <a:srgbClr val="36A883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5" name="直接连接符 64"/>
            <p:cNvCxnSpPr>
              <a:stCxn id="55" idx="6"/>
              <a:endCxn id="56" idx="2"/>
            </p:cNvCxnSpPr>
            <p:nvPr/>
          </p:nvCxnSpPr>
          <p:spPr>
            <a:xfrm flipV="1">
              <a:off x="13244" y="5006"/>
              <a:ext cx="535" cy="162"/>
            </a:xfrm>
            <a:prstGeom prst="line">
              <a:avLst/>
            </a:prstGeom>
            <a:ln w="22225">
              <a:solidFill>
                <a:srgbClr val="36A883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6" name="直接连接符 65"/>
            <p:cNvCxnSpPr>
              <a:stCxn id="56" idx="6"/>
              <a:endCxn id="57" idx="2"/>
            </p:cNvCxnSpPr>
            <p:nvPr/>
          </p:nvCxnSpPr>
          <p:spPr>
            <a:xfrm flipV="1">
              <a:off x="14059" y="4918"/>
              <a:ext cx="545" cy="88"/>
            </a:xfrm>
            <a:prstGeom prst="line">
              <a:avLst/>
            </a:prstGeom>
            <a:ln w="22225">
              <a:solidFill>
                <a:srgbClr val="36A883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79" name="组合 78"/>
          <p:cNvGrpSpPr/>
          <p:nvPr/>
        </p:nvGrpSpPr>
        <p:grpSpPr>
          <a:xfrm rot="0">
            <a:off x="3539490" y="1983105"/>
            <a:ext cx="2269490" cy="895350"/>
            <a:chOff x="11310" y="5368"/>
            <a:chExt cx="3574" cy="1410"/>
          </a:xfrm>
        </p:grpSpPr>
        <p:sp>
          <p:nvSpPr>
            <p:cNvPr id="70" name="椭圆 69"/>
            <p:cNvSpPr/>
            <p:nvPr/>
          </p:nvSpPr>
          <p:spPr>
            <a:xfrm>
              <a:off x="11310" y="5608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椭圆 70"/>
            <p:cNvSpPr/>
            <p:nvPr/>
          </p:nvSpPr>
          <p:spPr>
            <a:xfrm>
              <a:off x="12100" y="5368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椭圆 71"/>
            <p:cNvSpPr/>
            <p:nvPr/>
          </p:nvSpPr>
          <p:spPr>
            <a:xfrm>
              <a:off x="12964" y="6434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椭圆 72"/>
            <p:cNvSpPr/>
            <p:nvPr/>
          </p:nvSpPr>
          <p:spPr>
            <a:xfrm>
              <a:off x="13779" y="6498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椭圆 73"/>
            <p:cNvSpPr/>
            <p:nvPr/>
          </p:nvSpPr>
          <p:spPr>
            <a:xfrm>
              <a:off x="14604" y="5691"/>
              <a:ext cx="280" cy="280"/>
            </a:xfrm>
            <a:prstGeom prst="ellipse">
              <a:avLst/>
            </a:prstGeom>
            <a:solidFill>
              <a:srgbClr val="D3D1C7"/>
            </a:solidFill>
            <a:ln>
              <a:solidFill>
                <a:srgbClr val="B5B3A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75" name="直接连接符 74"/>
            <p:cNvCxnSpPr>
              <a:stCxn id="70" idx="6"/>
              <a:endCxn id="71" idx="2"/>
            </p:cNvCxnSpPr>
            <p:nvPr/>
          </p:nvCxnSpPr>
          <p:spPr>
            <a:xfrm flipV="1">
              <a:off x="11590" y="5508"/>
              <a:ext cx="510" cy="240"/>
            </a:xfrm>
            <a:prstGeom prst="line">
              <a:avLst/>
            </a:prstGeom>
            <a:ln w="19050" cmpd="sng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6" name="直接连接符 75"/>
            <p:cNvCxnSpPr>
              <a:stCxn id="72" idx="2"/>
              <a:endCxn id="71" idx="6"/>
            </p:cNvCxnSpPr>
            <p:nvPr/>
          </p:nvCxnSpPr>
          <p:spPr>
            <a:xfrm flipH="1" flipV="1">
              <a:off x="12380" y="5508"/>
              <a:ext cx="584" cy="1066"/>
            </a:xfrm>
            <a:prstGeom prst="line">
              <a:avLst/>
            </a:prstGeom>
            <a:ln w="19050" cmpd="sng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7" name="直接连接符 76"/>
            <p:cNvCxnSpPr>
              <a:stCxn id="72" idx="6"/>
              <a:endCxn id="73" idx="2"/>
            </p:cNvCxnSpPr>
            <p:nvPr/>
          </p:nvCxnSpPr>
          <p:spPr>
            <a:xfrm>
              <a:off x="13244" y="6574"/>
              <a:ext cx="535" cy="64"/>
            </a:xfrm>
            <a:prstGeom prst="line">
              <a:avLst/>
            </a:prstGeom>
            <a:ln w="19050" cmpd="sng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8" name="直接连接符 77"/>
            <p:cNvCxnSpPr>
              <a:stCxn id="73" idx="6"/>
              <a:endCxn id="74" idx="2"/>
            </p:cNvCxnSpPr>
            <p:nvPr/>
          </p:nvCxnSpPr>
          <p:spPr>
            <a:xfrm flipV="1">
              <a:off x="14059" y="5831"/>
              <a:ext cx="545" cy="807"/>
            </a:xfrm>
            <a:prstGeom prst="line">
              <a:avLst/>
            </a:prstGeom>
            <a:ln w="19050" cmpd="sng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91" name="椭圆 90"/>
          <p:cNvSpPr/>
          <p:nvPr/>
        </p:nvSpPr>
        <p:spPr>
          <a:xfrm>
            <a:off x="3539490" y="2464435"/>
            <a:ext cx="177800" cy="17780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4041140" y="2660015"/>
            <a:ext cx="177800" cy="17780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4589780" y="2224405"/>
            <a:ext cx="177800" cy="17780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5107305" y="2482215"/>
            <a:ext cx="177800" cy="17780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5631180" y="2520315"/>
            <a:ext cx="177800" cy="177800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96" name="直接连接符 95"/>
          <p:cNvCxnSpPr>
            <a:stCxn id="91" idx="6"/>
            <a:endCxn id="92" idx="2"/>
          </p:cNvCxnSpPr>
          <p:nvPr/>
        </p:nvCxnSpPr>
        <p:spPr>
          <a:xfrm>
            <a:off x="3717290" y="2553335"/>
            <a:ext cx="323850" cy="195580"/>
          </a:xfrm>
          <a:prstGeom prst="line">
            <a:avLst/>
          </a:prstGeom>
          <a:ln w="19050" cmpd="sng"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7" name="直接连接符 96"/>
          <p:cNvCxnSpPr>
            <a:stCxn id="93" idx="2"/>
            <a:endCxn id="92" idx="6"/>
          </p:cNvCxnSpPr>
          <p:nvPr/>
        </p:nvCxnSpPr>
        <p:spPr>
          <a:xfrm flipH="1">
            <a:off x="4218940" y="2313305"/>
            <a:ext cx="370840" cy="435610"/>
          </a:xfrm>
          <a:prstGeom prst="line">
            <a:avLst/>
          </a:prstGeom>
          <a:ln w="19050" cmpd="sng"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93" idx="6"/>
            <a:endCxn id="94" idx="2"/>
          </p:cNvCxnSpPr>
          <p:nvPr/>
        </p:nvCxnSpPr>
        <p:spPr>
          <a:xfrm>
            <a:off x="4767580" y="2313305"/>
            <a:ext cx="339725" cy="257810"/>
          </a:xfrm>
          <a:prstGeom prst="line">
            <a:avLst/>
          </a:prstGeom>
          <a:ln w="19050" cmpd="sng"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" name="直接连接符 98"/>
          <p:cNvCxnSpPr>
            <a:stCxn id="94" idx="6"/>
            <a:endCxn id="95" idx="2"/>
          </p:cNvCxnSpPr>
          <p:nvPr/>
        </p:nvCxnSpPr>
        <p:spPr>
          <a:xfrm>
            <a:off x="5285105" y="2571115"/>
            <a:ext cx="346075" cy="38100"/>
          </a:xfrm>
          <a:prstGeom prst="line">
            <a:avLst/>
          </a:prstGeom>
          <a:ln w="19050" cmpd="sng"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1" name="椭圆 100"/>
          <p:cNvSpPr/>
          <p:nvPr/>
        </p:nvSpPr>
        <p:spPr>
          <a:xfrm>
            <a:off x="6101715" y="1927225"/>
            <a:ext cx="177800" cy="177800"/>
          </a:xfrm>
          <a:prstGeom prst="ellipse">
            <a:avLst/>
          </a:prstGeom>
          <a:solidFill>
            <a:srgbClr val="1D9E75"/>
          </a:solidFill>
          <a:ln>
            <a:solidFill>
              <a:srgbClr val="1F605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2" name="文本框 101"/>
          <p:cNvSpPr txBox="1"/>
          <p:nvPr/>
        </p:nvSpPr>
        <p:spPr>
          <a:xfrm>
            <a:off x="6279515" y="1849120"/>
            <a:ext cx="109283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solidFill>
                  <a:srgbClr val="3AAA85"/>
                </a:solidFill>
                <a:latin typeface="Times New Roman" panose="02020603050405020304" charset="0"/>
                <a:cs typeface="Times New Roman" panose="02020603050405020304" charset="0"/>
              </a:rPr>
              <a:t>DEFEND</a:t>
            </a:r>
            <a:endParaRPr lang="en-US" altLang="zh-CN" sz="1600" b="1">
              <a:solidFill>
                <a:srgbClr val="3AAA85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6101715" y="2224405"/>
            <a:ext cx="177800" cy="177800"/>
          </a:xfrm>
          <a:prstGeom prst="ellipse">
            <a:avLst/>
          </a:prstGeom>
          <a:solidFill>
            <a:srgbClr val="D3D1C7"/>
          </a:solidFill>
          <a:ln>
            <a:solidFill>
              <a:srgbClr val="B5B3AD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5" name="文本框 104"/>
          <p:cNvSpPr txBox="1"/>
          <p:nvPr/>
        </p:nvSpPr>
        <p:spPr>
          <a:xfrm>
            <a:off x="6279515" y="2126615"/>
            <a:ext cx="13246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Baselines</a:t>
            </a:r>
            <a:endParaRPr lang="en-US" altLang="zh-CN" sz="1600" b="1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047365" y="2125345"/>
            <a:ext cx="4260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chemeClr val="bg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F1</a:t>
            </a:r>
            <a:endParaRPr lang="en-US" altLang="zh-CN" sz="1400">
              <a:solidFill>
                <a:schemeClr val="bg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</Words>
  <Application>WPS 演示</Application>
  <PresentationFormat>宽屏</PresentationFormat>
  <Paragraphs>80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glorious~信徒</cp:lastModifiedBy>
  <cp:revision>160</cp:revision>
  <dcterms:created xsi:type="dcterms:W3CDTF">2019-06-19T02:08:00Z</dcterms:created>
  <dcterms:modified xsi:type="dcterms:W3CDTF">2026-03-31T04:19:56Z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F1A490AAD9974337BF7B7D9AA660BBCF_13</vt:lpwstr>
  </property>
</Properties>
</file>