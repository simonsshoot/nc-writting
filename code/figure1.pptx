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87137"/>
    <a:srgbClr val="EAEEE3"/>
    <a:srgbClr val="437137"/>
    <a:srgbClr val="85A27B"/>
    <a:srgbClr val="D3D1C7"/>
    <a:srgbClr val="B5B3AD"/>
    <a:srgbClr val="36A883"/>
    <a:srgbClr val="1D9E75"/>
    <a:srgbClr val="1F605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" name="组合 118"/>
          <p:cNvGrpSpPr/>
          <p:nvPr/>
        </p:nvGrpSpPr>
        <p:grpSpPr>
          <a:xfrm>
            <a:off x="1068070" y="939165"/>
            <a:ext cx="10923905" cy="3736340"/>
            <a:chOff x="1682" y="1479"/>
            <a:chExt cx="17203" cy="5884"/>
          </a:xfrm>
        </p:grpSpPr>
        <p:grpSp>
          <p:nvGrpSpPr>
            <p:cNvPr id="7" name="组合 6"/>
            <p:cNvGrpSpPr/>
            <p:nvPr/>
          </p:nvGrpSpPr>
          <p:grpSpPr>
            <a:xfrm>
              <a:off x="1682" y="1479"/>
              <a:ext cx="3541" cy="1366"/>
              <a:chOff x="3277" y="2245"/>
              <a:chExt cx="3541" cy="1366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3277" y="2245"/>
                <a:ext cx="3541" cy="1366"/>
              </a:xfrm>
              <a:prstGeom prst="roundRect">
                <a:avLst/>
              </a:prstGeom>
              <a:solidFill>
                <a:srgbClr val="E1F5EE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" name="文本框 4"/>
              <p:cNvSpPr txBox="1"/>
              <p:nvPr/>
            </p:nvSpPr>
            <p:spPr>
              <a:xfrm>
                <a:off x="3649" y="2441"/>
                <a:ext cx="2851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2000" b="1">
                    <a:solidFill>
                      <a:srgbClr val="437C7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AnalysisAgent</a:t>
                </a:r>
                <a:endParaRPr lang="en-US" altLang="zh-CN" sz="2000" b="1">
                  <a:solidFill>
                    <a:srgbClr val="437C7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3784" y="2931"/>
                <a:ext cx="2545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>
                    <a:solidFill>
                      <a:srgbClr val="2B7F6A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Identify risk type</a:t>
                </a:r>
                <a:endParaRPr lang="en-US" altLang="zh-CN" sz="1600">
                  <a:solidFill>
                    <a:srgbClr val="2B7F6A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9" name="圆角矩形 8"/>
            <p:cNvSpPr/>
            <p:nvPr/>
          </p:nvSpPr>
          <p:spPr>
            <a:xfrm>
              <a:off x="6220" y="1479"/>
              <a:ext cx="3541" cy="1366"/>
            </a:xfrm>
            <a:prstGeom prst="roundRect">
              <a:avLst/>
            </a:prstGeom>
            <a:solidFill>
              <a:srgbClr val="EEEDFE"/>
            </a:solidFill>
            <a:ln>
              <a:solidFill>
                <a:srgbClr val="ADA9D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691" y="1675"/>
              <a:ext cx="260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rgbClr val="4C4493"/>
                  </a:solidFill>
                  <a:latin typeface="Times New Roman" panose="02020603050405020304" charset="0"/>
                  <a:cs typeface="Times New Roman" panose="02020603050405020304" charset="0"/>
                </a:rPr>
                <a:t>FusionAgent</a:t>
              </a:r>
              <a:endParaRPr lang="en-US" altLang="zh-CN" sz="2000" b="1">
                <a:solidFill>
                  <a:srgbClr val="4C4493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544" y="2165"/>
              <a:ext cx="3223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rgbClr val="5A51BA"/>
                  </a:solidFill>
                  <a:latin typeface="Times New Roman" panose="02020603050405020304" charset="0"/>
                  <a:cs typeface="Times New Roman" panose="02020603050405020304" charset="0"/>
                </a:rPr>
                <a:t>Reuse &amp; evolve tools</a:t>
              </a:r>
              <a:endParaRPr lang="en-US" altLang="zh-CN" sz="1600">
                <a:solidFill>
                  <a:srgbClr val="5A51BA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3" name="圆角矩形 12"/>
            <p:cNvSpPr/>
            <p:nvPr/>
          </p:nvSpPr>
          <p:spPr>
            <a:xfrm>
              <a:off x="10766" y="1479"/>
              <a:ext cx="3541" cy="1366"/>
            </a:xfrm>
            <a:prstGeom prst="roundRect">
              <a:avLst/>
            </a:prstGeom>
            <a:solidFill>
              <a:srgbClr val="FAEEDA"/>
            </a:solidFill>
            <a:ln>
              <a:solidFill>
                <a:srgbClr val="C4A67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1091" y="1675"/>
              <a:ext cx="2968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rgbClr val="7C562A"/>
                  </a:solidFill>
                  <a:latin typeface="Times New Roman" panose="02020603050405020304" charset="0"/>
                  <a:cs typeface="Times New Roman" panose="02020603050405020304" charset="0"/>
                </a:rPr>
                <a:t>ExecutorAgent</a:t>
              </a:r>
              <a:endParaRPr lang="en-US" altLang="zh-CN" sz="2000" b="1">
                <a:solidFill>
                  <a:srgbClr val="7C562A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11052" y="2165"/>
              <a:ext cx="3104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rgbClr val="996B30"/>
                  </a:solidFill>
                  <a:latin typeface="Times New Roman" panose="02020603050405020304" charset="0"/>
                  <a:cs typeface="Times New Roman" panose="02020603050405020304" charset="0"/>
                </a:rPr>
                <a:t>Sandboxed execution</a:t>
              </a:r>
              <a:endParaRPr lang="en-US" altLang="zh-CN" sz="1600">
                <a:solidFill>
                  <a:srgbClr val="996B30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15345" y="1479"/>
              <a:ext cx="3541" cy="1366"/>
            </a:xfrm>
            <a:prstGeom prst="roundRect">
              <a:avLst/>
            </a:prstGeom>
            <a:solidFill>
              <a:srgbClr val="FAECE7"/>
            </a:solidFill>
            <a:ln>
              <a:solidFill>
                <a:srgbClr val="C38D7A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5747" y="1675"/>
              <a:ext cx="2851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000" b="1">
                  <a:solidFill>
                    <a:srgbClr val="8B4F3B"/>
                  </a:solidFill>
                  <a:latin typeface="Times New Roman" panose="02020603050405020304" charset="0"/>
                  <a:cs typeface="Times New Roman" panose="02020603050405020304" charset="0"/>
                </a:rPr>
                <a:t>AuditorAgent</a:t>
              </a:r>
              <a:endParaRPr lang="en-US" altLang="zh-CN" sz="2000" b="1">
                <a:solidFill>
                  <a:srgbClr val="8B4F3B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5922" y="2165"/>
              <a:ext cx="253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rgbClr val="A8583E"/>
                  </a:solidFill>
                  <a:latin typeface="Times New Roman" panose="02020603050405020304" charset="0"/>
                  <a:cs typeface="Times New Roman" panose="02020603050405020304" charset="0"/>
                </a:rPr>
                <a:t>Audit &amp; validate</a:t>
              </a:r>
              <a:endParaRPr lang="en-US" altLang="zh-CN" sz="1600">
                <a:solidFill>
                  <a:srgbClr val="A8583E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0" name="直接箭头连接符 19"/>
            <p:cNvCxnSpPr>
              <a:stCxn id="4" idx="3"/>
              <a:endCxn id="9" idx="1"/>
            </p:cNvCxnSpPr>
            <p:nvPr/>
          </p:nvCxnSpPr>
          <p:spPr>
            <a:xfrm>
              <a:off x="5223" y="2162"/>
              <a:ext cx="997" cy="0"/>
            </a:xfrm>
            <a:prstGeom prst="straightConnector1">
              <a:avLst/>
            </a:prstGeom>
            <a:ln w="22225"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endCxn id="13" idx="1"/>
            </p:cNvCxnSpPr>
            <p:nvPr/>
          </p:nvCxnSpPr>
          <p:spPr>
            <a:xfrm>
              <a:off x="9762" y="2162"/>
              <a:ext cx="1004" cy="0"/>
            </a:xfrm>
            <a:prstGeom prst="straightConnector1">
              <a:avLst/>
            </a:prstGeom>
            <a:ln w="22225"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endCxn id="17" idx="1"/>
            </p:cNvCxnSpPr>
            <p:nvPr/>
          </p:nvCxnSpPr>
          <p:spPr>
            <a:xfrm flipV="1">
              <a:off x="14322" y="2162"/>
              <a:ext cx="1023" cy="3"/>
            </a:xfrm>
            <a:prstGeom prst="straightConnector1">
              <a:avLst/>
            </a:prstGeom>
            <a:ln w="22225">
              <a:tailEnd type="stealth" w="lg" len="lg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曲线连接符 22"/>
            <p:cNvCxnSpPr>
              <a:stCxn id="17" idx="2"/>
            </p:cNvCxnSpPr>
            <p:nvPr/>
          </p:nvCxnSpPr>
          <p:spPr>
            <a:xfrm rot="5400000">
              <a:off x="13342" y="-151"/>
              <a:ext cx="779" cy="6769"/>
            </a:xfrm>
            <a:prstGeom prst="curvedConnector2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曲线连接符 25"/>
            <p:cNvCxnSpPr/>
            <p:nvPr/>
          </p:nvCxnSpPr>
          <p:spPr>
            <a:xfrm rot="5400000" flipV="1">
              <a:off x="6512" y="-215"/>
              <a:ext cx="777" cy="6895"/>
            </a:xfrm>
            <a:prstGeom prst="curvedConnector2">
              <a:avLst/>
            </a:prstGeom>
            <a:ln>
              <a:headEnd type="stealth" w="lg" len="lg"/>
              <a:tailEnd type="non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8726" y="2979"/>
              <a:ext cx="2920" cy="5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500">
                  <a:solidFill>
                    <a:srgbClr val="B2B1AF"/>
                  </a:solidFill>
                  <a:latin typeface="Times New Roman" panose="02020603050405020304" charset="0"/>
                  <a:cs typeface="Times New Roman" panose="02020603050405020304" charset="0"/>
                </a:rPr>
                <a:t>lifelong learning loop</a:t>
              </a:r>
              <a:endParaRPr lang="en-US" altLang="zh-CN" sz="1500">
                <a:solidFill>
                  <a:srgbClr val="B2B1AF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2190" y="4778"/>
              <a:ext cx="7745" cy="2567"/>
              <a:chOff x="616" y="4857"/>
              <a:chExt cx="7745" cy="2567"/>
            </a:xfrm>
          </p:grpSpPr>
          <p:cxnSp>
            <p:nvCxnSpPr>
              <p:cNvPr id="28" name="直接连接符 27"/>
              <p:cNvCxnSpPr/>
              <p:nvPr/>
            </p:nvCxnSpPr>
            <p:spPr>
              <a:xfrm flipV="1">
                <a:off x="2557" y="6966"/>
                <a:ext cx="5232" cy="12"/>
              </a:xfrm>
              <a:prstGeom prst="line">
                <a:avLst/>
              </a:prstGeom>
              <a:ln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29" name="文本框 28"/>
              <p:cNvSpPr txBox="1"/>
              <p:nvPr/>
            </p:nvSpPr>
            <p:spPr>
              <a:xfrm>
                <a:off x="2341" y="6990"/>
                <a:ext cx="680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>
                    <a:solidFill>
                      <a:schemeClr val="bg2">
                        <a:lumMod val="50000"/>
                      </a:schemeClr>
                    </a:solidFill>
                  </a:rPr>
                  <a:t>0.0</a:t>
                </a:r>
                <a:endParaRPr lang="en-US" altLang="zh-CN" sz="120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4701" y="6990"/>
                <a:ext cx="680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>
                    <a:solidFill>
                      <a:schemeClr val="bg2">
                        <a:lumMod val="50000"/>
                      </a:schemeClr>
                    </a:solidFill>
                  </a:rPr>
                  <a:t>0.5</a:t>
                </a:r>
                <a:endParaRPr lang="en-US" altLang="zh-CN" sz="120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7277" y="6990"/>
                <a:ext cx="680" cy="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200">
                    <a:solidFill>
                      <a:schemeClr val="bg2">
                        <a:lumMod val="50000"/>
                      </a:schemeClr>
                    </a:solidFill>
                  </a:rPr>
                  <a:t>1.0</a:t>
                </a:r>
                <a:endParaRPr lang="en-US" altLang="zh-CN" sz="120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32" name="圆角矩形 31"/>
              <p:cNvSpPr/>
              <p:nvPr/>
            </p:nvSpPr>
            <p:spPr>
              <a:xfrm>
                <a:off x="2557" y="6606"/>
                <a:ext cx="4720" cy="288"/>
              </a:xfrm>
              <a:prstGeom prst="roundRect">
                <a:avLst/>
              </a:prstGeom>
              <a:solidFill>
                <a:srgbClr val="1D9E75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3" name="圆角矩形 32"/>
              <p:cNvSpPr/>
              <p:nvPr/>
            </p:nvSpPr>
            <p:spPr>
              <a:xfrm>
                <a:off x="2557" y="6222"/>
                <a:ext cx="3107" cy="288"/>
              </a:xfrm>
              <a:prstGeom prst="roundRect">
                <a:avLst/>
              </a:prstGeom>
              <a:solidFill>
                <a:srgbClr val="D3D1C7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4" name="圆角矩形 33"/>
              <p:cNvSpPr/>
              <p:nvPr/>
            </p:nvSpPr>
            <p:spPr>
              <a:xfrm>
                <a:off x="2557" y="5838"/>
                <a:ext cx="4134" cy="288"/>
              </a:xfrm>
              <a:prstGeom prst="roundRect">
                <a:avLst/>
              </a:prstGeom>
              <a:solidFill>
                <a:srgbClr val="D3D1C7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5" name="圆角矩形 34"/>
              <p:cNvSpPr/>
              <p:nvPr/>
            </p:nvSpPr>
            <p:spPr>
              <a:xfrm>
                <a:off x="2553" y="5400"/>
                <a:ext cx="3667" cy="288"/>
              </a:xfrm>
              <a:prstGeom prst="roundRect">
                <a:avLst/>
              </a:prstGeom>
              <a:solidFill>
                <a:srgbClr val="D3D1C7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6" name="圆角矩形 35"/>
              <p:cNvSpPr/>
              <p:nvPr/>
            </p:nvSpPr>
            <p:spPr>
              <a:xfrm>
                <a:off x="2557" y="4962"/>
                <a:ext cx="3352" cy="288"/>
              </a:xfrm>
              <a:prstGeom prst="roundRect">
                <a:avLst/>
              </a:prstGeom>
              <a:solidFill>
                <a:srgbClr val="D3D1C7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1024" y="6498"/>
                <a:ext cx="172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solidFill>
                      <a:srgbClr val="3AAA85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DEFEND</a:t>
                </a:r>
                <a:endParaRPr lang="en-US" altLang="zh-CN" sz="1600" b="1">
                  <a:solidFill>
                    <a:srgbClr val="3AAA85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0" name="文本框 39"/>
              <p:cNvSpPr txBox="1"/>
              <p:nvPr/>
            </p:nvSpPr>
            <p:spPr>
              <a:xfrm>
                <a:off x="1371" y="4857"/>
                <a:ext cx="1350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AGrail</a:t>
                </a:r>
                <a:endParaRPr lang="en-US" altLang="zh-CN" sz="1600" b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1" name="文本框 40"/>
              <p:cNvSpPr txBox="1"/>
              <p:nvPr/>
            </p:nvSpPr>
            <p:spPr>
              <a:xfrm>
                <a:off x="1136" y="5280"/>
                <a:ext cx="1517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CoTSafe</a:t>
                </a:r>
                <a:endParaRPr lang="en-US" altLang="zh-CN" sz="1600" b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664" y="5691"/>
                <a:ext cx="2009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ShieldAgent</a:t>
                </a:r>
                <a:endParaRPr lang="en-US" altLang="zh-CN" sz="1600" b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616" y="6075"/>
                <a:ext cx="208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GuardAgent</a:t>
                </a:r>
                <a:endParaRPr lang="en-US" altLang="zh-CN" sz="1600" b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44" name="文本框 43"/>
              <p:cNvSpPr txBox="1"/>
              <p:nvPr/>
            </p:nvSpPr>
            <p:spPr>
              <a:xfrm>
                <a:off x="7193" y="6510"/>
                <a:ext cx="116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b="1">
                    <a:solidFill>
                      <a:srgbClr val="3A7367"/>
                    </a:solidFill>
                  </a:rPr>
                  <a:t>0.924</a:t>
                </a:r>
                <a:endParaRPr lang="en-US" altLang="zh-CN" sz="1400" b="1">
                  <a:solidFill>
                    <a:srgbClr val="3A7367"/>
                  </a:solidFill>
                </a:endParaRPr>
              </a:p>
            </p:txBody>
          </p:sp>
          <p:sp>
            <p:nvSpPr>
              <p:cNvPr id="45" name="文本框 44"/>
              <p:cNvSpPr txBox="1"/>
              <p:nvPr/>
            </p:nvSpPr>
            <p:spPr>
              <a:xfrm>
                <a:off x="5557" y="6129"/>
                <a:ext cx="116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bg2">
                        <a:lumMod val="50000"/>
                      </a:schemeClr>
                    </a:solidFill>
                  </a:rPr>
                  <a:t>0.604</a:t>
                </a:r>
                <a:endParaRPr lang="en-US" altLang="zh-CN" sz="140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7" name="文本框 46"/>
              <p:cNvSpPr txBox="1"/>
              <p:nvPr/>
            </p:nvSpPr>
            <p:spPr>
              <a:xfrm>
                <a:off x="6606" y="5739"/>
                <a:ext cx="116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bg2">
                        <a:lumMod val="50000"/>
                      </a:schemeClr>
                    </a:solidFill>
                  </a:rPr>
                  <a:t>0.832</a:t>
                </a:r>
                <a:endParaRPr lang="en-US" altLang="zh-CN" sz="140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8" name="文本框 47"/>
              <p:cNvSpPr txBox="1"/>
              <p:nvPr/>
            </p:nvSpPr>
            <p:spPr>
              <a:xfrm>
                <a:off x="6127" y="5308"/>
                <a:ext cx="116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bg2">
                        <a:lumMod val="50000"/>
                      </a:schemeClr>
                    </a:solidFill>
                  </a:rPr>
                  <a:t>0.770</a:t>
                </a:r>
                <a:endParaRPr lang="en-US" altLang="zh-CN" sz="140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9" name="文本框 48"/>
              <p:cNvSpPr txBox="1"/>
              <p:nvPr/>
            </p:nvSpPr>
            <p:spPr>
              <a:xfrm>
                <a:off x="5813" y="4866"/>
                <a:ext cx="116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bg2">
                        <a:lumMod val="50000"/>
                      </a:schemeClr>
                    </a:solidFill>
                  </a:rPr>
                  <a:t>0.707</a:t>
                </a:r>
                <a:endParaRPr lang="en-US" altLang="zh-CN" sz="140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08" name="组合 107"/>
            <p:cNvGrpSpPr/>
            <p:nvPr/>
          </p:nvGrpSpPr>
          <p:grpSpPr>
            <a:xfrm>
              <a:off x="10259" y="4627"/>
              <a:ext cx="7176" cy="2737"/>
              <a:chOff x="10535" y="4710"/>
              <a:chExt cx="7176" cy="2737"/>
            </a:xfrm>
          </p:grpSpPr>
          <p:cxnSp>
            <p:nvCxnSpPr>
              <p:cNvPr id="51" name="直接连接符 50"/>
              <p:cNvCxnSpPr/>
              <p:nvPr/>
            </p:nvCxnSpPr>
            <p:spPr>
              <a:xfrm>
                <a:off x="11041" y="4710"/>
                <a:ext cx="0" cy="2292"/>
              </a:xfrm>
              <a:prstGeom prst="line">
                <a:avLst/>
              </a:prstGeom>
              <a:ln>
                <a:solidFill>
                  <a:srgbClr val="D3D1C7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2" name="直接连接符 51"/>
              <p:cNvCxnSpPr/>
              <p:nvPr/>
            </p:nvCxnSpPr>
            <p:spPr>
              <a:xfrm flipV="1">
                <a:off x="11044" y="6968"/>
                <a:ext cx="5270" cy="28"/>
              </a:xfrm>
              <a:prstGeom prst="line">
                <a:avLst/>
              </a:prstGeom>
              <a:ln>
                <a:solidFill>
                  <a:srgbClr val="D3D1C7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58" name="文本框 57"/>
              <p:cNvSpPr txBox="1"/>
              <p:nvPr/>
            </p:nvSpPr>
            <p:spPr>
              <a:xfrm>
                <a:off x="11099" y="6941"/>
                <a:ext cx="85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App</a:t>
                </a:r>
                <a:endParaRPr lang="en-US" altLang="zh-CN" sz="1400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9" name="文本框 58"/>
              <p:cNvSpPr txBox="1"/>
              <p:nvPr/>
            </p:nvSpPr>
            <p:spPr>
              <a:xfrm>
                <a:off x="11932" y="6941"/>
                <a:ext cx="85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Prog</a:t>
                </a:r>
                <a:endParaRPr lang="en-US" altLang="zh-CN" sz="1400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>
              <a:xfrm>
                <a:off x="12828" y="6941"/>
                <a:ext cx="856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IoT</a:t>
                </a:r>
                <a:endParaRPr lang="en-US" altLang="zh-CN" sz="1400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13604" y="6933"/>
                <a:ext cx="856" cy="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500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Fin</a:t>
                </a:r>
                <a:endParaRPr lang="en-US" altLang="zh-CN" sz="1500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14298" y="6941"/>
                <a:ext cx="856" cy="5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500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Web</a:t>
                </a:r>
                <a:endParaRPr lang="en-US" altLang="zh-CN" sz="1500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grpSp>
            <p:nvGrpSpPr>
              <p:cNvPr id="67" name="组合 66"/>
              <p:cNvGrpSpPr/>
              <p:nvPr/>
            </p:nvGrpSpPr>
            <p:grpSpPr>
              <a:xfrm rot="0">
                <a:off x="11310" y="4778"/>
                <a:ext cx="3574" cy="530"/>
                <a:chOff x="11310" y="4778"/>
                <a:chExt cx="3574" cy="530"/>
              </a:xfrm>
            </p:grpSpPr>
            <p:sp>
              <p:nvSpPr>
                <p:cNvPr id="53" name="椭圆 52"/>
                <p:cNvSpPr/>
                <p:nvPr/>
              </p:nvSpPr>
              <p:spPr>
                <a:xfrm>
                  <a:off x="11310" y="4962"/>
                  <a:ext cx="280" cy="280"/>
                </a:xfrm>
                <a:prstGeom prst="ellipse">
                  <a:avLst/>
                </a:prstGeom>
                <a:solidFill>
                  <a:srgbClr val="1D9E75"/>
                </a:solidFill>
                <a:ln>
                  <a:solidFill>
                    <a:srgbClr val="1F605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4" name="椭圆 53"/>
                <p:cNvSpPr/>
                <p:nvPr/>
              </p:nvSpPr>
              <p:spPr>
                <a:xfrm>
                  <a:off x="12100" y="4778"/>
                  <a:ext cx="280" cy="280"/>
                </a:xfrm>
                <a:prstGeom prst="ellipse">
                  <a:avLst/>
                </a:prstGeom>
                <a:solidFill>
                  <a:srgbClr val="1D9E75"/>
                </a:solidFill>
                <a:ln>
                  <a:solidFill>
                    <a:srgbClr val="1F605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/>
                <p:cNvSpPr/>
                <p:nvPr/>
              </p:nvSpPr>
              <p:spPr>
                <a:xfrm>
                  <a:off x="12964" y="5028"/>
                  <a:ext cx="280" cy="280"/>
                </a:xfrm>
                <a:prstGeom prst="ellipse">
                  <a:avLst/>
                </a:prstGeom>
                <a:solidFill>
                  <a:srgbClr val="1D9E75"/>
                </a:solidFill>
                <a:ln>
                  <a:solidFill>
                    <a:srgbClr val="1F605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6" name="椭圆 55"/>
                <p:cNvSpPr/>
                <p:nvPr/>
              </p:nvSpPr>
              <p:spPr>
                <a:xfrm>
                  <a:off x="13779" y="4866"/>
                  <a:ext cx="280" cy="280"/>
                </a:xfrm>
                <a:prstGeom prst="ellipse">
                  <a:avLst/>
                </a:prstGeom>
                <a:solidFill>
                  <a:srgbClr val="1D9E75"/>
                </a:solidFill>
                <a:ln>
                  <a:solidFill>
                    <a:srgbClr val="1F605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7" name="椭圆 56"/>
                <p:cNvSpPr/>
                <p:nvPr/>
              </p:nvSpPr>
              <p:spPr>
                <a:xfrm>
                  <a:off x="14604" y="4778"/>
                  <a:ext cx="280" cy="280"/>
                </a:xfrm>
                <a:prstGeom prst="ellipse">
                  <a:avLst/>
                </a:prstGeom>
                <a:solidFill>
                  <a:srgbClr val="1D9E75"/>
                </a:solidFill>
                <a:ln>
                  <a:solidFill>
                    <a:srgbClr val="1F6052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63" name="直接连接符 62"/>
                <p:cNvCxnSpPr>
                  <a:stCxn id="53" idx="6"/>
                  <a:endCxn id="54" idx="2"/>
                </p:cNvCxnSpPr>
                <p:nvPr/>
              </p:nvCxnSpPr>
              <p:spPr>
                <a:xfrm flipV="1">
                  <a:off x="11590" y="4918"/>
                  <a:ext cx="510" cy="184"/>
                </a:xfrm>
                <a:prstGeom prst="line">
                  <a:avLst/>
                </a:prstGeom>
                <a:ln w="22225">
                  <a:solidFill>
                    <a:srgbClr val="36A883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4" name="直接连接符 63"/>
                <p:cNvCxnSpPr>
                  <a:stCxn id="55" idx="2"/>
                  <a:endCxn id="54" idx="6"/>
                </p:cNvCxnSpPr>
                <p:nvPr/>
              </p:nvCxnSpPr>
              <p:spPr>
                <a:xfrm flipH="1" flipV="1">
                  <a:off x="12380" y="4918"/>
                  <a:ext cx="584" cy="250"/>
                </a:xfrm>
                <a:prstGeom prst="line">
                  <a:avLst/>
                </a:prstGeom>
                <a:ln w="22225">
                  <a:solidFill>
                    <a:srgbClr val="36A883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>
                  <a:stCxn id="55" idx="6"/>
                  <a:endCxn id="56" idx="2"/>
                </p:cNvCxnSpPr>
                <p:nvPr/>
              </p:nvCxnSpPr>
              <p:spPr>
                <a:xfrm flipV="1">
                  <a:off x="13244" y="5006"/>
                  <a:ext cx="535" cy="162"/>
                </a:xfrm>
                <a:prstGeom prst="line">
                  <a:avLst/>
                </a:prstGeom>
                <a:ln w="22225">
                  <a:solidFill>
                    <a:srgbClr val="36A883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直接连接符 65"/>
                <p:cNvCxnSpPr>
                  <a:stCxn id="56" idx="6"/>
                  <a:endCxn id="57" idx="2"/>
                </p:cNvCxnSpPr>
                <p:nvPr/>
              </p:nvCxnSpPr>
              <p:spPr>
                <a:xfrm flipV="1">
                  <a:off x="14059" y="4918"/>
                  <a:ext cx="545" cy="88"/>
                </a:xfrm>
                <a:prstGeom prst="line">
                  <a:avLst/>
                </a:prstGeom>
                <a:ln w="22225">
                  <a:solidFill>
                    <a:srgbClr val="36A883"/>
                  </a:solidFill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9" name="组合 78"/>
              <p:cNvGrpSpPr/>
              <p:nvPr/>
            </p:nvGrpSpPr>
            <p:grpSpPr>
              <a:xfrm rot="0">
                <a:off x="11310" y="5368"/>
                <a:ext cx="3574" cy="1410"/>
                <a:chOff x="11310" y="5368"/>
                <a:chExt cx="3574" cy="1410"/>
              </a:xfrm>
            </p:grpSpPr>
            <p:sp>
              <p:nvSpPr>
                <p:cNvPr id="70" name="椭圆 69"/>
                <p:cNvSpPr/>
                <p:nvPr/>
              </p:nvSpPr>
              <p:spPr>
                <a:xfrm>
                  <a:off x="11310" y="5608"/>
                  <a:ext cx="280" cy="280"/>
                </a:xfrm>
                <a:prstGeom prst="ellipse">
                  <a:avLst/>
                </a:prstGeom>
                <a:solidFill>
                  <a:srgbClr val="D3D1C7"/>
                </a:solidFill>
                <a:ln>
                  <a:solidFill>
                    <a:srgbClr val="B5B3A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1" name="椭圆 70"/>
                <p:cNvSpPr/>
                <p:nvPr/>
              </p:nvSpPr>
              <p:spPr>
                <a:xfrm>
                  <a:off x="12100" y="5368"/>
                  <a:ext cx="280" cy="280"/>
                </a:xfrm>
                <a:prstGeom prst="ellipse">
                  <a:avLst/>
                </a:prstGeom>
                <a:solidFill>
                  <a:srgbClr val="D3D1C7"/>
                </a:solidFill>
                <a:ln>
                  <a:solidFill>
                    <a:srgbClr val="B5B3A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2" name="椭圆 71"/>
                <p:cNvSpPr/>
                <p:nvPr/>
              </p:nvSpPr>
              <p:spPr>
                <a:xfrm>
                  <a:off x="12964" y="6434"/>
                  <a:ext cx="280" cy="280"/>
                </a:xfrm>
                <a:prstGeom prst="ellipse">
                  <a:avLst/>
                </a:prstGeom>
                <a:solidFill>
                  <a:srgbClr val="D3D1C7"/>
                </a:solidFill>
                <a:ln>
                  <a:solidFill>
                    <a:srgbClr val="B5B3A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3" name="椭圆 72"/>
                <p:cNvSpPr/>
                <p:nvPr/>
              </p:nvSpPr>
              <p:spPr>
                <a:xfrm>
                  <a:off x="13779" y="6498"/>
                  <a:ext cx="280" cy="280"/>
                </a:xfrm>
                <a:prstGeom prst="ellipse">
                  <a:avLst/>
                </a:prstGeom>
                <a:solidFill>
                  <a:srgbClr val="D3D1C7"/>
                </a:solidFill>
                <a:ln>
                  <a:solidFill>
                    <a:srgbClr val="B5B3A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4604" y="5691"/>
                  <a:ext cx="280" cy="280"/>
                </a:xfrm>
                <a:prstGeom prst="ellipse">
                  <a:avLst/>
                </a:prstGeom>
                <a:solidFill>
                  <a:srgbClr val="D3D1C7"/>
                </a:solidFill>
                <a:ln>
                  <a:solidFill>
                    <a:srgbClr val="B5B3AD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75" name="直接连接符 74"/>
                <p:cNvCxnSpPr>
                  <a:stCxn id="70" idx="6"/>
                  <a:endCxn id="71" idx="2"/>
                </p:cNvCxnSpPr>
                <p:nvPr/>
              </p:nvCxnSpPr>
              <p:spPr>
                <a:xfrm flipV="1">
                  <a:off x="11590" y="5508"/>
                  <a:ext cx="510" cy="240"/>
                </a:xfrm>
                <a:prstGeom prst="line">
                  <a:avLst/>
                </a:prstGeom>
                <a:ln w="19050" cmpd="sng">
                  <a:solidFill>
                    <a:schemeClr val="bg2">
                      <a:lumMod val="90000"/>
                    </a:scheme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6" name="直接连接符 75"/>
                <p:cNvCxnSpPr>
                  <a:stCxn id="72" idx="2"/>
                  <a:endCxn id="71" idx="6"/>
                </p:cNvCxnSpPr>
                <p:nvPr/>
              </p:nvCxnSpPr>
              <p:spPr>
                <a:xfrm flipH="1" flipV="1">
                  <a:off x="12380" y="5508"/>
                  <a:ext cx="584" cy="1066"/>
                </a:xfrm>
                <a:prstGeom prst="line">
                  <a:avLst/>
                </a:prstGeom>
                <a:ln w="19050" cmpd="sng">
                  <a:solidFill>
                    <a:schemeClr val="bg2">
                      <a:lumMod val="90000"/>
                    </a:scheme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7" name="直接连接符 76"/>
                <p:cNvCxnSpPr>
                  <a:stCxn id="72" idx="6"/>
                  <a:endCxn id="73" idx="2"/>
                </p:cNvCxnSpPr>
                <p:nvPr/>
              </p:nvCxnSpPr>
              <p:spPr>
                <a:xfrm>
                  <a:off x="13244" y="6574"/>
                  <a:ext cx="535" cy="64"/>
                </a:xfrm>
                <a:prstGeom prst="line">
                  <a:avLst/>
                </a:prstGeom>
                <a:ln w="19050" cmpd="sng">
                  <a:solidFill>
                    <a:schemeClr val="bg2">
                      <a:lumMod val="90000"/>
                    </a:scheme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78" name="直接连接符 77"/>
                <p:cNvCxnSpPr>
                  <a:stCxn id="73" idx="6"/>
                  <a:endCxn id="74" idx="2"/>
                </p:cNvCxnSpPr>
                <p:nvPr/>
              </p:nvCxnSpPr>
              <p:spPr>
                <a:xfrm flipV="1">
                  <a:off x="14059" y="5831"/>
                  <a:ext cx="545" cy="807"/>
                </a:xfrm>
                <a:prstGeom prst="line">
                  <a:avLst/>
                </a:prstGeom>
                <a:ln w="19050" cmpd="sng">
                  <a:solidFill>
                    <a:schemeClr val="bg2">
                      <a:lumMod val="90000"/>
                    </a:schemeClr>
                  </a:solidFill>
                  <a:prstDash val="sysDash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椭圆 90"/>
              <p:cNvSpPr/>
              <p:nvPr/>
            </p:nvSpPr>
            <p:spPr>
              <a:xfrm>
                <a:off x="11310" y="6126"/>
                <a:ext cx="280" cy="28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2" name="椭圆 91"/>
              <p:cNvSpPr/>
              <p:nvPr/>
            </p:nvSpPr>
            <p:spPr>
              <a:xfrm>
                <a:off x="12100" y="6434"/>
                <a:ext cx="280" cy="28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3" name="椭圆 92"/>
              <p:cNvSpPr/>
              <p:nvPr/>
            </p:nvSpPr>
            <p:spPr>
              <a:xfrm>
                <a:off x="12964" y="5748"/>
                <a:ext cx="280" cy="28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4" name="椭圆 93"/>
              <p:cNvSpPr/>
              <p:nvPr/>
            </p:nvSpPr>
            <p:spPr>
              <a:xfrm>
                <a:off x="13779" y="6154"/>
                <a:ext cx="280" cy="28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95" name="椭圆 94"/>
              <p:cNvSpPr/>
              <p:nvPr/>
            </p:nvSpPr>
            <p:spPr>
              <a:xfrm>
                <a:off x="14604" y="6214"/>
                <a:ext cx="280" cy="28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96" name="直接连接符 95"/>
              <p:cNvCxnSpPr>
                <a:stCxn id="91" idx="6"/>
                <a:endCxn id="92" idx="2"/>
              </p:cNvCxnSpPr>
              <p:nvPr/>
            </p:nvCxnSpPr>
            <p:spPr>
              <a:xfrm>
                <a:off x="11590" y="6266"/>
                <a:ext cx="510" cy="308"/>
              </a:xfrm>
              <a:prstGeom prst="line">
                <a:avLst/>
              </a:prstGeom>
              <a:ln w="19050" cmpd="sng">
                <a:solidFill>
                  <a:schemeClr val="bg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7" name="直接连接符 96"/>
              <p:cNvCxnSpPr>
                <a:stCxn id="93" idx="2"/>
                <a:endCxn id="92" idx="6"/>
              </p:cNvCxnSpPr>
              <p:nvPr/>
            </p:nvCxnSpPr>
            <p:spPr>
              <a:xfrm flipH="1">
                <a:off x="12380" y="5888"/>
                <a:ext cx="584" cy="686"/>
              </a:xfrm>
              <a:prstGeom prst="line">
                <a:avLst/>
              </a:prstGeom>
              <a:ln w="19050" cmpd="sng">
                <a:solidFill>
                  <a:schemeClr val="bg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8" name="直接连接符 97"/>
              <p:cNvCxnSpPr>
                <a:stCxn id="93" idx="6"/>
                <a:endCxn id="94" idx="2"/>
              </p:cNvCxnSpPr>
              <p:nvPr/>
            </p:nvCxnSpPr>
            <p:spPr>
              <a:xfrm>
                <a:off x="13244" y="5888"/>
                <a:ext cx="535" cy="406"/>
              </a:xfrm>
              <a:prstGeom prst="line">
                <a:avLst/>
              </a:prstGeom>
              <a:ln w="19050" cmpd="sng">
                <a:solidFill>
                  <a:schemeClr val="bg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9" name="直接连接符 98"/>
              <p:cNvCxnSpPr>
                <a:stCxn id="94" idx="6"/>
                <a:endCxn id="95" idx="2"/>
              </p:cNvCxnSpPr>
              <p:nvPr/>
            </p:nvCxnSpPr>
            <p:spPr>
              <a:xfrm>
                <a:off x="14059" y="6294"/>
                <a:ext cx="545" cy="60"/>
              </a:xfrm>
              <a:prstGeom prst="line">
                <a:avLst/>
              </a:prstGeom>
              <a:ln w="19050" cmpd="sng">
                <a:solidFill>
                  <a:schemeClr val="bg2">
                    <a:lumMod val="75000"/>
                  </a:schemeClr>
                </a:solidFill>
                <a:prstDash val="sysDash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1" name="椭圆 100"/>
              <p:cNvSpPr/>
              <p:nvPr/>
            </p:nvSpPr>
            <p:spPr>
              <a:xfrm>
                <a:off x="15345" y="5280"/>
                <a:ext cx="280" cy="280"/>
              </a:xfrm>
              <a:prstGeom prst="ellipse">
                <a:avLst/>
              </a:prstGeom>
              <a:solidFill>
                <a:srgbClr val="1D9E75"/>
              </a:solidFill>
              <a:ln>
                <a:solidFill>
                  <a:srgbClr val="1F6052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2" name="文本框 101"/>
              <p:cNvSpPr txBox="1"/>
              <p:nvPr/>
            </p:nvSpPr>
            <p:spPr>
              <a:xfrm>
                <a:off x="15625" y="5157"/>
                <a:ext cx="1721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solidFill>
                      <a:srgbClr val="3AAA85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DEFEND</a:t>
                </a:r>
                <a:endParaRPr lang="en-US" altLang="zh-CN" sz="1600" b="1">
                  <a:solidFill>
                    <a:srgbClr val="3AAA85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4" name="椭圆 103"/>
              <p:cNvSpPr/>
              <p:nvPr/>
            </p:nvSpPr>
            <p:spPr>
              <a:xfrm>
                <a:off x="15345" y="5748"/>
                <a:ext cx="280" cy="280"/>
              </a:xfrm>
              <a:prstGeom prst="ellipse">
                <a:avLst/>
              </a:prstGeom>
              <a:solidFill>
                <a:srgbClr val="D3D1C7"/>
              </a:solidFill>
              <a:ln>
                <a:solidFill>
                  <a:srgbClr val="B5B3AD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15625" y="5594"/>
                <a:ext cx="2086" cy="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600" b="1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Baselines</a:t>
                </a:r>
                <a:endParaRPr lang="en-US" altLang="zh-CN" sz="1600" b="1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>
              <a:xfrm>
                <a:off x="10535" y="5592"/>
                <a:ext cx="671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>
                    <a:solidFill>
                      <a:schemeClr val="bg2">
                        <a:lumMod val="50000"/>
                      </a:schemeClr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F1</a:t>
                </a:r>
                <a:endParaRPr lang="en-US" altLang="zh-CN" sz="1400">
                  <a:solidFill>
                    <a:schemeClr val="bg2">
                      <a:lumMod val="50000"/>
                    </a:schemeClr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115" name="组合 114"/>
            <p:cNvGrpSpPr/>
            <p:nvPr/>
          </p:nvGrpSpPr>
          <p:grpSpPr>
            <a:xfrm>
              <a:off x="3878" y="3588"/>
              <a:ext cx="4721" cy="823"/>
              <a:chOff x="3411" y="3780"/>
              <a:chExt cx="4721" cy="823"/>
            </a:xfrm>
          </p:grpSpPr>
          <p:sp>
            <p:nvSpPr>
              <p:cNvPr id="111" name="圆角矩形 110"/>
              <p:cNvSpPr/>
              <p:nvPr/>
            </p:nvSpPr>
            <p:spPr>
              <a:xfrm>
                <a:off x="3476" y="4035"/>
                <a:ext cx="4572" cy="5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43713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3807" y="4023"/>
                <a:ext cx="432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437137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SOTA defense performance</a:t>
                </a:r>
                <a:endParaRPr lang="en-US" altLang="zh-CN">
                  <a:solidFill>
                    <a:srgbClr val="437137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114" name="图片 113" descr="正确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3411" y="3780"/>
                <a:ext cx="425" cy="425"/>
              </a:xfrm>
              <a:prstGeom prst="rect">
                <a:avLst/>
              </a:prstGeom>
            </p:spPr>
          </p:pic>
        </p:grpSp>
        <p:grpSp>
          <p:nvGrpSpPr>
            <p:cNvPr id="117" name="组合 116"/>
            <p:cNvGrpSpPr/>
            <p:nvPr/>
          </p:nvGrpSpPr>
          <p:grpSpPr>
            <a:xfrm>
              <a:off x="10865" y="3558"/>
              <a:ext cx="4715" cy="841"/>
              <a:chOff x="10701" y="3780"/>
              <a:chExt cx="4715" cy="841"/>
            </a:xfrm>
          </p:grpSpPr>
          <p:sp>
            <p:nvSpPr>
              <p:cNvPr id="113" name="圆角矩形 112"/>
              <p:cNvSpPr/>
              <p:nvPr/>
            </p:nvSpPr>
            <p:spPr>
              <a:xfrm>
                <a:off x="10701" y="4035"/>
                <a:ext cx="4644" cy="56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437137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>
                <a:off x="10934" y="4041"/>
                <a:ext cx="3977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>
                    <a:solidFill>
                      <a:srgbClr val="437137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Cross-domain generation</a:t>
                </a:r>
                <a:endParaRPr lang="en-US" altLang="zh-CN">
                  <a:solidFill>
                    <a:srgbClr val="437137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116" name="图片 115" descr="正确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14991" y="3780"/>
                <a:ext cx="425" cy="425"/>
              </a:xfrm>
              <a:prstGeom prst="rect">
                <a:avLst/>
              </a:prstGeom>
            </p:spPr>
          </p:pic>
        </p:grpSp>
      </p:grp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WPS 演示</Application>
  <PresentationFormat>宽屏</PresentationFormat>
  <Paragraphs>64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Times New Roman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glorious~信徒</cp:lastModifiedBy>
  <cp:revision>159</cp:revision>
  <dcterms:created xsi:type="dcterms:W3CDTF">2019-06-19T02:08:00Z</dcterms:created>
  <dcterms:modified xsi:type="dcterms:W3CDTF">2026-03-27T04:46:28Z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F1A490AAD9974337BF7B7D9AA660BBCF_13</vt:lpwstr>
  </property>
</Properties>
</file>